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F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6C491-44B2-4FF8-BE72-9A3A99B801C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4B991-ADD1-413F-8790-F6D89FF43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5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4B991-ADD1-413F-8790-F6D89FF432F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8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5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07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83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96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92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19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208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5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9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6449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512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513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685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923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76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05569-559B-4AA7-BEEA-90387BFEF83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F71C1-B23C-4C3B-B7E0-8E05259286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924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808C-23EB-B645-95E9-B63B2DE8F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5306" y="462115"/>
            <a:ext cx="9141388" cy="1789319"/>
          </a:xfrm>
        </p:spPr>
        <p:txBody>
          <a:bodyPr anchor="t"/>
          <a:lstStyle/>
          <a:p>
            <a:r>
              <a:rPr lang="en-US" dirty="0">
                <a:solidFill>
                  <a:srgbClr val="90F20E"/>
                </a:solidFill>
              </a:rPr>
              <a:t>Adventure Works Sales              Analysis Project</a:t>
            </a:r>
            <a:endParaRPr lang="en-IN" dirty="0">
              <a:solidFill>
                <a:srgbClr val="90F20E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B121372-B692-C4C1-4B60-97709E5FC5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3890" y="3800321"/>
            <a:ext cx="9001293" cy="221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arenR"/>
            </a:pPr>
            <a:r>
              <a:rPr lang="en-IN" i="0" dirty="0">
                <a:effectLst/>
                <a:latin typeface="Calibri" panose="020F0502020204030204" pitchFamily="34" charset="0"/>
              </a:rPr>
              <a:t>Rahul Vishnu Shewale</a:t>
            </a:r>
            <a:r>
              <a:rPr lang="en-IN" dirty="0">
                <a:latin typeface="Calibri" panose="020F0502020204030204" pitchFamily="34" charset="0"/>
              </a:rPr>
              <a:t>           2) </a:t>
            </a:r>
            <a:r>
              <a:rPr lang="en-IN" dirty="0">
                <a:effectLst/>
                <a:latin typeface="Calibri" panose="020F0502020204030204" pitchFamily="34" charset="0"/>
              </a:rPr>
              <a:t>Madamanchi</a:t>
            </a:r>
            <a:r>
              <a:rPr lang="en-IN" dirty="0"/>
              <a:t> Bharath </a:t>
            </a:r>
          </a:p>
          <a:p>
            <a:pPr algn="l"/>
            <a:r>
              <a:rPr lang="en-IN" dirty="0"/>
              <a:t>3) </a:t>
            </a:r>
            <a:r>
              <a:rPr lang="en-IN" dirty="0">
                <a:effectLst/>
                <a:latin typeface="Calibri" panose="020F0502020204030204" pitchFamily="34" charset="0"/>
              </a:rPr>
              <a:t>Aasheesh</a:t>
            </a:r>
            <a:r>
              <a:rPr lang="en-IN" dirty="0"/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Dashore</a:t>
            </a:r>
            <a:r>
              <a:rPr lang="en-IN" dirty="0"/>
              <a:t>            4)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Kirankumar</a:t>
            </a:r>
            <a:r>
              <a:rPr lang="en-IN" dirty="0"/>
              <a:t> </a:t>
            </a:r>
            <a:r>
              <a:rPr lang="en-IN" dirty="0">
                <a:effectLst/>
                <a:latin typeface="Calibri" panose="020F0502020204030204" pitchFamily="34" charset="0"/>
              </a:rPr>
              <a:t>Mudhol</a:t>
            </a:r>
            <a:r>
              <a:rPr lang="en-IN" dirty="0"/>
              <a:t>       </a:t>
            </a:r>
          </a:p>
          <a:p>
            <a:pPr algn="l"/>
            <a:r>
              <a:rPr lang="en-IN" dirty="0"/>
              <a:t> 5) D </a:t>
            </a:r>
            <a:r>
              <a:rPr lang="en-IN" dirty="0">
                <a:effectLst/>
                <a:latin typeface="Calibri" panose="020F0502020204030204" pitchFamily="34" charset="0"/>
              </a:rPr>
              <a:t>Yuva</a:t>
            </a:r>
            <a:r>
              <a:rPr lang="en-IN" dirty="0"/>
              <a:t> Kiran                      6)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Rakesh</a:t>
            </a:r>
            <a:r>
              <a:rPr lang="en-IN" dirty="0"/>
              <a:t> A P    </a:t>
            </a:r>
          </a:p>
          <a:p>
            <a:pPr algn="l"/>
            <a:r>
              <a:rPr lang="en-IN" dirty="0"/>
              <a:t>7)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Nallanagula</a:t>
            </a:r>
            <a:r>
              <a:rPr lang="en-IN" dirty="0"/>
              <a:t> Adharsh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915386-7B4F-CF06-5475-F0483385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90" y="2914678"/>
            <a:ext cx="24973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Group 6</a:t>
            </a:r>
          </a:p>
        </p:txBody>
      </p:sp>
    </p:spTree>
    <p:extLst>
      <p:ext uri="{BB962C8B-B14F-4D97-AF65-F5344CB8AC3E}">
        <p14:creationId xmlns:p14="http://schemas.microsoft.com/office/powerpoint/2010/main" val="420800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508BCEC-B71F-A12A-D015-3B6EECBE11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7587" y="932452"/>
            <a:ext cx="58895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Data Overview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KPI Analysis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Dashboard Analysis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Power BI Dashboard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Tableau Dashboard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Excel Dashboard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Key Insights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Recommendations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DBE43-E38B-760D-EF2B-CABE6CA32ADB}"/>
              </a:ext>
            </a:extLst>
          </p:cNvPr>
          <p:cNvSpPr txBox="1"/>
          <p:nvPr/>
        </p:nvSpPr>
        <p:spPr>
          <a:xfrm>
            <a:off x="0" y="277450"/>
            <a:ext cx="3342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kumimoji="0" sz="32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3595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5C69D86-90B5-FD73-2DBB-3612E0BDD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6116" y="1535786"/>
            <a:ext cx="986165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Adventure Works Sales Analysis project focuses on analyzing historical sales data to understand business performance, customer behavior, and product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leverages Business Intelligence tools such as Power BI, Tableau, and Excel to transform raw data into interactive dashboards and meaningful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is to support data-driven decision-making by identifying key performance indicators (KPIs), sales patterns, and growth opportunities.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0D82A-00CC-FD22-8002-752F1BFED66B}"/>
              </a:ext>
            </a:extLst>
          </p:cNvPr>
          <p:cNvSpPr txBox="1"/>
          <p:nvPr/>
        </p:nvSpPr>
        <p:spPr>
          <a:xfrm>
            <a:off x="2979174" y="4136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kumimoji="0" sz="36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sz="32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5796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F25B380-F28F-8C6F-57E1-F9C43DA90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572" y="797531"/>
            <a:ext cx="11922855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Adventure Works dataset is a structured business dataset that contains detailed information about sales transactions, customers, products, and regional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Dataset Categories: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📦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Product Data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Product Name, Category, and Sub-category, which helps analyze product performance and identify best-selling items.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👤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Customer Data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Customer Names and segmentation details, useful for understanding purchasing behavior and identifying top customers.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💰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Sales &amp; Financial Data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Sales Amount, Profit, and Production Cost, which are essential for evaluating business profitability and financial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/>
              <a:t>📅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Time-Based Data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Year, Quarter, and Month, enabling trend analysis and seasonal performance tracking.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/>
              <a:t>📍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Geographical Data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Region and Country, helping to analyze sales distribution across different locations.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B4F77-A9B6-38EC-5565-B3C5C08A446B}"/>
              </a:ext>
            </a:extLst>
          </p:cNvPr>
          <p:cNvSpPr txBox="1"/>
          <p:nvPr/>
        </p:nvSpPr>
        <p:spPr>
          <a:xfrm>
            <a:off x="2930012" y="8960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kumimoji="0" sz="36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sz="3200" dirty="0"/>
              <a:t>DATA OVERVIEW</a:t>
            </a:r>
          </a:p>
        </p:txBody>
      </p:sp>
    </p:spTree>
    <p:extLst>
      <p:ext uri="{BB962C8B-B14F-4D97-AF65-F5344CB8AC3E}">
        <p14:creationId xmlns:p14="http://schemas.microsoft.com/office/powerpoint/2010/main" val="56509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47DF92B-425D-1C4C-A906-3661D902D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5975" y="833063"/>
            <a:ext cx="1176845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Performance Indicators (KPIs) provide a quick summary of overall business performance and help in monitoring growth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Total Sales: 29.36M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the total revenue generated from all products and regions. It indicates the overall business scale and market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Total Profit: 12.08M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net earnings after deducting production costs. A higher profit indicates strong financial performance and efficient cost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Total Customers: 18,484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the total number of unique customers. It helps in understanding customer reach and business expansion.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KPI Importance: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Helps in quick decision-making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Provides a high-level performance summary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Acts as a benchmark for business growth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9066E-2B49-3411-BF0E-2DE8D15C9F54}"/>
              </a:ext>
            </a:extLst>
          </p:cNvPr>
          <p:cNvSpPr txBox="1"/>
          <p:nvPr/>
        </p:nvSpPr>
        <p:spPr>
          <a:xfrm>
            <a:off x="83193" y="114577"/>
            <a:ext cx="90706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32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dirty="0"/>
              <a:t>KEY PERFORMANCE INDICATORS (KPIs)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51D5A0-1ACC-2E95-E09C-539571A6F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5" y="5260257"/>
            <a:ext cx="11768451" cy="131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9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CB81C58-8429-69EA-25BD-9356C321C8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23" y="732301"/>
            <a:ext cx="11915939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Power BI dashboard provides an interactive</a:t>
            </a:r>
            <a:r>
              <a:rPr lang="en-US" altLang="en-US" sz="1900" dirty="0">
                <a:effectLst/>
                <a:latin typeface="Arial" panose="020B0604020202020204" pitchFamily="34" charset="0"/>
              </a:rPr>
              <a:t>, visually rich representation of sales data, helping identify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trends, patterns, and performance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KPI Overview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highlights key metrics such as Total Sales (29.36M), Total Profit (12.08M), and Total Customers (18.48K), giving a quick summary of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Sales by Region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Australia is the top-performing region, followed by Southwest and Northwest, indicating strong market presence in these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Year-wise Sales Analysis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year 2013 shows the highest sales, reflecting peak business growth during this period.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Month-wise Sales Trend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show a declining trend from December to February, indicating possible seasonal variation.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Quarter-wise Sales Distribution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Q4 contributes the highest percentage (~31%), followed by Q3 and Q2, showing strong end-of-year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Sales vs Production Cost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comparison shows that although production cost increases, sales remain significantly higher, ensuring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Product-wise Sales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products contribute the majority of sales, indicating high demand for specific items.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F8C5B-7228-6F21-45F8-2BCB4704D795}"/>
              </a:ext>
            </a:extLst>
          </p:cNvPr>
          <p:cNvSpPr txBox="1"/>
          <p:nvPr/>
        </p:nvSpPr>
        <p:spPr>
          <a:xfrm>
            <a:off x="177738" y="147526"/>
            <a:ext cx="7708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36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sz="3200" dirty="0"/>
              <a:t>POWER BI DASHBOARD ANALYSIS</a:t>
            </a:r>
          </a:p>
        </p:txBody>
      </p:sp>
    </p:spTree>
    <p:extLst>
      <p:ext uri="{BB962C8B-B14F-4D97-AF65-F5344CB8AC3E}">
        <p14:creationId xmlns:p14="http://schemas.microsoft.com/office/powerpoint/2010/main" val="54029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34A99-E51D-9FA7-655E-6D6F40ECE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30" y="924232"/>
            <a:ext cx="11967340" cy="5737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11C359-B1F5-581C-0992-18E4B8F025C3}"/>
              </a:ext>
            </a:extLst>
          </p:cNvPr>
          <p:cNvSpPr txBox="1"/>
          <p:nvPr/>
        </p:nvSpPr>
        <p:spPr>
          <a:xfrm>
            <a:off x="3048000" y="19664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POWER BI DASHBOARD </a:t>
            </a:r>
            <a:endParaRPr lang="en-IN" sz="3200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0517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D9D842B-FB16-F182-AFE7-725D1EC88B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485" y="886611"/>
            <a:ext cx="1144507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Tableau dashboard provides an interactive and visually appealing representation of sales data, focusing on trend analysis and comparative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KPI Overview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highlights key metrics such as Total Sales, Total Profit, and Total Customers, providing a quick summary of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Year-wise Sales Trend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sales trend shows a steady increase over the years,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2013 being the highest-performing 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business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Quarter-wise Analysis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Among all quarters,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Q4 contributes the highest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strong year-end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Month-wise Sales Trend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fluctuate across months, with noticeable peaks during certain months, reflecting seasonal demand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Region-wise Sales Distribution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Australia and the Southwest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 the most to total sales, highlighting key business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Customer-wise Sales Contribution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number of customers contribute significantly to overall revenue, indicating high-value customer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Interactive Filters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Year and Region allow dynamic and customized analysis of the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97D11-6026-01D5-98E6-8759BDB921B7}"/>
              </a:ext>
            </a:extLst>
          </p:cNvPr>
          <p:cNvSpPr txBox="1"/>
          <p:nvPr/>
        </p:nvSpPr>
        <p:spPr>
          <a:xfrm>
            <a:off x="100485" y="176640"/>
            <a:ext cx="7182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28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pPr algn="ctr"/>
            <a:r>
              <a:rPr lang="en-US" altLang="en-US" sz="3200" dirty="0"/>
              <a:t>TABLEAU DASHBOARD ANALYSIS</a:t>
            </a:r>
          </a:p>
        </p:txBody>
      </p:sp>
    </p:spTree>
    <p:extLst>
      <p:ext uri="{BB962C8B-B14F-4D97-AF65-F5344CB8AC3E}">
        <p14:creationId xmlns:p14="http://schemas.microsoft.com/office/powerpoint/2010/main" val="276998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CB139-6F5D-73FA-FFD7-4262EFFBF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999135"/>
            <a:ext cx="12192000" cy="57642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9F86C8-DECD-17B5-9694-ADDEAB8467F1}"/>
              </a:ext>
            </a:extLst>
          </p:cNvPr>
          <p:cNvSpPr txBox="1"/>
          <p:nvPr/>
        </p:nvSpPr>
        <p:spPr>
          <a:xfrm>
            <a:off x="2504970" y="94570"/>
            <a:ext cx="7182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28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pPr algn="ctr"/>
            <a:r>
              <a:rPr lang="en-US" altLang="en-US" sz="3200" dirty="0"/>
              <a:t>Tableau Dashboard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6645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7A9005-603C-3411-5C64-9AD1321E8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855406"/>
            <a:ext cx="11916696" cy="60025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92864-4E62-88DF-6FA2-4A7B4B437CEF}"/>
              </a:ext>
            </a:extLst>
          </p:cNvPr>
          <p:cNvSpPr txBox="1"/>
          <p:nvPr/>
        </p:nvSpPr>
        <p:spPr>
          <a:xfrm>
            <a:off x="2333945" y="97981"/>
            <a:ext cx="7182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28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pPr algn="ctr"/>
            <a:r>
              <a:rPr lang="en-US" altLang="en-US" sz="3600" dirty="0"/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56310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2C2ECEC-2C3E-AFD0-F0F3-C1FB6E638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316" y="758046"/>
            <a:ext cx="1188720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the analysis of dashboards created using Power BI, Tableau, and Excel, the following key insights were identified: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📈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Peak Sales Year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year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2013 recorded the highest sales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strong business growth during this period.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📅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Quarterly Performance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Q4 contributes the highest share of total sales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that end-of-year demand is significantly higher.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📈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Seasonal Sales Trends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show fluctuations across months, with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sales in specific months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seasonal demand patterns.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🌍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Top Performing Regions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Australia and the Southwest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the highest revenue, making them key business markets.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👥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Customer Contribution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group of customers contributes a large portion of total sales, highlighting the importance of high-value customers.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📦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Product Performance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limited number of products dominate overall sales, indicating high demand for specific products.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700" dirty="0"/>
              <a:t>💰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Profitability Insight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consistently exceed production costs, ensuring overall business profitability.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B9637-DF24-0645-4138-E346155144F5}"/>
              </a:ext>
            </a:extLst>
          </p:cNvPr>
          <p:cNvSpPr txBox="1"/>
          <p:nvPr/>
        </p:nvSpPr>
        <p:spPr>
          <a:xfrm>
            <a:off x="-1278193" y="1117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kumimoji="0" sz="36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291488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E376D7D-30D5-161E-F19B-D9457D4A2C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302" y="672477"/>
            <a:ext cx="1185755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the insights derived from the data analysis, the following recommendations are proposed: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Focus on High-Performing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🌍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marketing efforts and investment in regions like Australia and the Southwest to maximize revenue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Improve Low-Performing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📉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challenges in underperforming regions and implement targeted strategies to boost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Promote Top-Selling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📦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high-demand products through promotions, discounts, and better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Customer Retention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👥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loyalty programs and personalized offers to retain high-value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Seasonal Marketing 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📅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peak seasons (especially Q4) by planning campaigns, offers, and inventory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Cost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💰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and control production costs to further increase profit margins.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Data-Driven Decision 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📊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insights from dashboards regularly to improve business strategies and performance.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3E255-ACAF-04AF-E38B-B9894DF6B9B9}"/>
              </a:ext>
            </a:extLst>
          </p:cNvPr>
          <p:cNvSpPr txBox="1"/>
          <p:nvPr/>
        </p:nvSpPr>
        <p:spPr>
          <a:xfrm>
            <a:off x="-442451" y="595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kumimoji="0" sz="36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1299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E5E8BF8-AACB-9899-6ADC-FCE028E22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1160" y="944838"/>
            <a:ext cx="1135437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Adventure Works Sales Analysis project demonstrates how raw data can be transformed into meaningful insights using Business Intelligence tools such as Power BI, Tableau, and Excel.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detailed analysis, key trends related to sales performance, customer behavior, regional contribution, and product demand were identified.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The project highlights that: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sz="2400" dirty="0"/>
              <a:t>📊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Data visualization helps in a better understanding of business performance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sz="2400" dirty="0"/>
              <a:t>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Identifying trends and patterns supports strategic decision-making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sz="2400" dirty="0"/>
              <a:t>🌍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High-performing regions and products drive major revenue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sz="2400" dirty="0"/>
              <a:t>📈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Seasonal trends play a significant role in sales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this project emphasizes the importance of data-driven decision-making in improving business efficiency, profitability, and growth.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355E4-878B-3D28-C1AB-2D7AF7D7A3E3}"/>
              </a:ext>
            </a:extLst>
          </p:cNvPr>
          <p:cNvSpPr txBox="1"/>
          <p:nvPr/>
        </p:nvSpPr>
        <p:spPr>
          <a:xfrm>
            <a:off x="-1150374" y="1278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kumimoji="0" sz="3600" b="1" i="0" u="none" strike="noStrike" cap="none" normalizeH="0" baseline="0">
                <a:ln>
                  <a:noFill/>
                </a:ln>
                <a:effectLst/>
                <a:highlight>
                  <a:srgbClr val="000000"/>
                </a:highlight>
                <a:latin typeface="Arial" panose="020B0604020202020204" pitchFamily="34" charset="0"/>
              </a:defRPr>
            </a:lvl1pPr>
          </a:lstStyle>
          <a:p>
            <a:r>
              <a:rPr lang="en-US" alt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59008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F79B38-3A9E-764B-3E14-29F734AC5819}"/>
              </a:ext>
            </a:extLst>
          </p:cNvPr>
          <p:cNvSpPr/>
          <p:nvPr/>
        </p:nvSpPr>
        <p:spPr>
          <a:xfrm>
            <a:off x="1676400" y="1133475"/>
            <a:ext cx="7800975" cy="435292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IN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235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117</TotalTime>
  <Words>1263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Rockwell</vt:lpstr>
      <vt:lpstr>Damask</vt:lpstr>
      <vt:lpstr>Adventure Works Sales              Analysis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Shewale</dc:creator>
  <cp:lastModifiedBy>Rahul Shewale</cp:lastModifiedBy>
  <cp:revision>1</cp:revision>
  <dcterms:created xsi:type="dcterms:W3CDTF">2026-03-29T13:47:06Z</dcterms:created>
  <dcterms:modified xsi:type="dcterms:W3CDTF">2026-03-29T15:44:25Z</dcterms:modified>
</cp:coreProperties>
</file>